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45720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INTELIGENCIA ARTIFICIAL — UNI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303 — Trabajo de Investigación 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automatizada y priorización de eventos adversos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notas clínicas no estructuradas mediante un flujo de procesamiento (pipeline) de NLP y aprendizaje automático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10515600" cy="1097280"/>
          </a:xfrm>
          <a:prstGeom prst="rect">
            <a:avLst/>
          </a:prstGeom>
          <a:solidFill>
            <a:srgbClr val="028090">
              <a:alpha val="3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6576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la Matriz de Priorización del Modelo GEMSES sobre el dataset MIMIC-IV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0690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GEMSES — Pérez Pérez (2021) — adoptado por EsSalud vía Directiva GG-ESSALUD-2021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Sustentación de avance — Mayo 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486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Pérez Pérez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— Oficina de Gestión de la Calidad y Humanización, EsSalud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0" y="5715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Eng. Maria F. Tejada Begazo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motiva la investigación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eventos adversos figuran entre las diez principales causas de muerte y discapacidad en el mundo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11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361188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10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hospitalizados sufre al menos un evento adverso (estimación OMS)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463040"/>
            <a:ext cx="3611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463040"/>
            <a:ext cx="3611880" cy="109728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6916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50 %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663440" y="27432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eventos adversos son evitables si se detectan e intervienen a tiempo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0" y="1463040"/>
            <a:ext cx="3611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1463040"/>
            <a:ext cx="361188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6916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80 %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641080" y="27432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datos en una historia clínica electrónica son texto libre no estructurado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11338560" cy="2103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206240"/>
            <a:ext cx="109728" cy="2103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 prevenirlos?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" y="475488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►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daños evitables al paciente.</a:t>
            </a:r>
            <a:endParaRPr lang="en-US" sz="1300" dirty="0"/>
          </a:p>
          <a:p>
            <a:pPr marL="342900" indent="-342900">
              <a:buSzPct val="100000"/>
              <a:buChar char="►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Disminución de prolongación de estancia, costos asociados a infecciones nosocomiales y reintervenciones.</a:t>
            </a:r>
            <a:endParaRPr lang="en-US" sz="1300" dirty="0"/>
          </a:p>
          <a:p>
            <a:pPr marL="342900" indent="-342900">
              <a:buSzPct val="100000"/>
              <a:buChar char="►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la Directiva GG-ESSALUD-2021: registrar, notificar y gestionar los Eventos Relacionados con la Seguridad del Paciente (ERSP).</a:t>
            </a:r>
            <a:endParaRPr lang="en-US" sz="1300" dirty="0"/>
          </a:p>
          <a:p>
            <a:pPr marL="342900" indent="-342900">
              <a:buSzPct val="100000"/>
              <a:buChar char="►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Fortalecimiento de la cultura de seguridad institucional, principio rector del Modelo GEMSES.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303 — Carlos Pérez Pérez — Mayo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6424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de procesamiento (pipeline)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general: dos etapas que convierten una nota clínica en un Nivel de Riesgo y de Gestión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148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214884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clínica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estructurada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libre escrito por el médico (epicrisis, evolución, alta).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2642616" y="2825496"/>
            <a:ext cx="91440" cy="109728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0632" y="1645920"/>
            <a:ext cx="2148840" cy="2468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70632" y="1645920"/>
            <a:ext cx="2148840" cy="32004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1645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NLP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62072" y="20574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eventos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07792" y="30175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BioBERT / ClinicalBERT identifican entidades y clasifican naturaleza del evento.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4956048" y="2825496"/>
            <a:ext cx="91440" cy="109728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84064" y="1645920"/>
            <a:ext cx="2148840" cy="2468880"/>
          </a:xfrm>
          <a:prstGeom prst="rect">
            <a:avLst/>
          </a:prstGeom>
          <a:solidFill>
            <a:srgbClr val="2E4F8A"/>
          </a:solidFill>
          <a:ln w="12700">
            <a:solidFill>
              <a:srgbClr val="2E4F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84064" y="1645920"/>
            <a:ext cx="2148840" cy="32004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84064" y="1645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ML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75504" y="20574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proxy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MIMIC-IV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21224" y="30175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Tiempo, Calidad, Costos, Satisfacción se extraen del módulo tabular.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5400000">
            <a:off x="7269480" y="2825496"/>
            <a:ext cx="91440" cy="109728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97496" y="1645920"/>
            <a:ext cx="2148840" cy="2468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97496" y="1645920"/>
            <a:ext cx="2148840" cy="32004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97496" y="1645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88936" y="20574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GEMSES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34656" y="30175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G = c·0.40 + d·0.20 + e·0.15 + f·0.25 (Anexo 03 Directiva).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rot="5400000">
            <a:off x="9582912" y="2825496"/>
            <a:ext cx="91440" cy="109728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10928" y="1645920"/>
            <a:ext cx="21488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710928" y="1645920"/>
            <a:ext cx="214884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10928" y="1645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802368" y="20574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Riesgo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 Gestión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848088" y="30175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/ Amarillo / Rojo → Servicios / Departamento / Director.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434840"/>
            <a:ext cx="11338560" cy="1874520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434840"/>
            <a:ext cx="109728" cy="18745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526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automatiza este flujo de procesamiento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7240" y="4937760"/>
            <a:ext cx="10972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►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la codificación y priorización manual que hoy realiza la Oficina de Gestión de la Calidad de cada IPRESS — un cuello de botella estructural reconocido en la propia Directiva GG-ESSALUD-2021.</a:t>
            </a:r>
            <a:endParaRPr lang="en-US" sz="1200" dirty="0"/>
          </a:p>
          <a:p>
            <a:pPr marL="342900" indent="-342900">
              <a:buSzPct val="100000"/>
              <a:buChar char="►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humano se mantiene en el loop como panel experto independiente que valida la salida del pipeline (Objetivo Específico 4).</a:t>
            </a:r>
            <a:endParaRPr lang="en-US" sz="1200" dirty="0"/>
          </a:p>
          <a:p>
            <a:pPr marL="342900" indent="-342900">
              <a:buSzPct val="100000"/>
              <a:buChar char="►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bloque del pipeline está respaldado por al menos un artículo del corpus revisado: NLP por [1][2][3], multimodal por [8], priorización por [9][10][11][12].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303 — Carlos Pérez Pérez — Mayo 2026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06424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NLP sobre notas clínicas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texto libre escrito por el médico a evento adverso clasificado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035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3035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· Nota clínica de evolución (ejemplo MIMIC-IV)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with hx of CKD presents with worsening confusion. </a:t>
            </a:r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on the floor</a:t>
            </a:r>
            <a:pPr indent="0" marL="0">
              <a:buNone/>
            </a:pPr>
            <a:r>
              <a:rPr lang="en-US" sz="13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03:00 by night staff. </a:t>
            </a:r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fall from bed. </a:t>
            </a:r>
            <a:pPr indent="0" marL="0">
              <a:buNone/>
            </a:pPr>
            <a:r>
              <a:rPr lang="en-US" sz="13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witnessed LOC. Lab work consistent with </a:t>
            </a:r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hospital-acquired UTI</a:t>
            </a:r>
            <a:pPr indent="0" marL="0">
              <a:buNone/>
            </a:pPr>
            <a:r>
              <a:rPr lang="en-US" sz="13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Foley catheter in place since admission day 4. Started on empirical abx. Will monitor.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3246120"/>
            <a:ext cx="640080" cy="1280160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324612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BioBERT</a:t>
            </a:r>
            <a:endParaRPr lang="en-US" sz="9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ClinicalBERT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 rot="5400000">
            <a:off x="6419088" y="3822192"/>
            <a:ext cx="91440" cy="128016"/>
          </a:xfrm>
          <a:prstGeom prst="rtTriangle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1417320"/>
            <a:ext cx="52578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37960" y="1417320"/>
            <a:ext cx="525780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4173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· Entidades clínicas detectadas y clasificadas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1965960"/>
            <a:ext cx="4983480" cy="12801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1965960"/>
            <a:ext cx="73152" cy="1280160"/>
          </a:xfrm>
          <a:prstGeom prst="rect">
            <a:avLst/>
          </a:prstGeom>
          <a:solidFill>
            <a:srgbClr val="F9C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02 · 202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de paciente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27432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Naturaleza: Cuidado del paciente · Sin testigos · Riesgo medio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0" y="3429000"/>
            <a:ext cx="4983480" cy="128016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3429000"/>
            <a:ext cx="73152" cy="128016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02 · ITU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Infección urinaria nosocomial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42062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Naturaleza: Infección nosocomial · Asociada a catéter vesical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502920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F1 ponderado · Recall · Kappa de Cohen   ·   Modelos: BioBERT, ClinicalBERT, DistilBERT [1][2][6]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303 — Carlos Pérez Pérez — Mayo 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6424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Priorización con Matriz GEMSES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evento detectado se prioriza con la fórmula del Modelo GEMSES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dimensiones del Impacto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852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914400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1929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22037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 prolongado vs mediana DRG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5852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97480"/>
            <a:ext cx="91440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9748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27523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30266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ICD-9/10 de complicaciones intrahospitalarias (HACs)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5852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20440"/>
            <a:ext cx="914400" cy="713232"/>
          </a:xfrm>
          <a:prstGeom prst="rect">
            <a:avLst/>
          </a:prstGeom>
          <a:solidFill>
            <a:srgbClr val="2E4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2044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3575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38496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DRG weight asignado + procedimientos invasivos adicionales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5852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343400"/>
            <a:ext cx="914400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4340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08760" y="43982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08760" y="46725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Readmisión no planificada a 30 días + alta contra recomendación médica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1417320"/>
            <a:ext cx="5394960" cy="2194560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DEL IMPACTO (GEMSES)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1965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·0.40 + </a:t>
            </a:r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·0.20 + </a:t>
            </a:r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·0.15 + </a:t>
            </a:r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·0.25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58368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c=Tiempo · d=Calidad · e=Costos · f=Satisfacción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pesos = 1.00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3383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03 — Directiva GG-ESSALUD-2021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3794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Gestión según percentiles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4160520"/>
            <a:ext cx="16916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4160520"/>
            <a:ext cx="1691640" cy="502920"/>
          </a:xfrm>
          <a:prstGeom prst="rect">
            <a:avLst/>
          </a:prstGeom>
          <a:solidFill>
            <a:srgbClr val="5B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1605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0" y="4754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492240" y="5257800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impacto · Servicios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0" y="4160520"/>
            <a:ext cx="16916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4160520"/>
            <a:ext cx="1691640" cy="502920"/>
          </a:xfrm>
          <a:prstGeom prst="rect">
            <a:avLst/>
          </a:prstGeom>
          <a:solidFill>
            <a:srgbClr val="F9C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0" y="41605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229600" y="4754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8321040" y="5257800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Mediano · Departamento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058400" y="4160520"/>
            <a:ext cx="16916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58400" y="4160520"/>
            <a:ext cx="1691640" cy="502920"/>
          </a:xfrm>
          <a:prstGeom prst="rect">
            <a:avLst/>
          </a:prstGeom>
          <a:solidFill>
            <a:srgbClr val="E155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58400" y="41605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058400" y="4754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P75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0149840" y="5257800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· Director del establecimiento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303 — Carlos Pérez Pérez — Mayo 2026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06424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GEMSES — automatización institucional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de Priorización es ya un instrumento normativo de EsSalud — no un modelo experimental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0" cy="4754880"/>
          </a:xfrm>
          <a:prstGeom prst="rect">
            <a:avLst/>
          </a:prstGeom>
          <a:solidFill>
            <a:srgbClr val="1F386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GEMSES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Moderna de los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Salud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657600"/>
            <a:ext cx="2743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404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Pérez Pérez (2021)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D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 publicado y patentado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FA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 978-612-00-6235-7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3657600" cy="109728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3492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principios rectores · 3 macroprocesos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Priorización (Formato 1)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1554480"/>
            <a:ext cx="73609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6916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NORMATIVA POR ESSALUD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0116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Directiva GG-ESSALUD-2021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17720" y="24688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«Registro, Notificación y Gestión de los Eventos Relacionados con la Seguridad del Paciente (ERSP)»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3063240"/>
            <a:ext cx="7040880" cy="1463040"/>
          </a:xfrm>
          <a:prstGeom prst="rect">
            <a:avLst/>
          </a:prstGeom>
          <a:solidFill>
            <a:srgbClr val="F8FA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3063240"/>
            <a:ext cx="91440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1546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5.13: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42900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«Matriz de Priorización: Herramienta de priorización del modelo de Gestión Moderna de los Servicios de Salud — GEMSES — que permite gestionar los riesgos de manera proactiva y reactiva, teniendo en cuenta los KRI (Key Risk Indicators).»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46634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para esta tesis?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4983480"/>
            <a:ext cx="7040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►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GEMSES no es un marco experimental — es ya parte de la normativa pública peruana en seguridad del paciente.</a:t>
            </a:r>
            <a:endParaRPr lang="en-US" sz="1100" dirty="0"/>
          </a:p>
          <a:p>
            <a:pPr marL="342900" indent="-342900">
              <a:buSzPct val="100000"/>
              <a:buChar char="►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la Matriz de Priorización contribuye directamente al cumplimiento de una directiva oficial.</a:t>
            </a:r>
            <a:endParaRPr lang="en-US" sz="1100" dirty="0"/>
          </a:p>
          <a:p>
            <a:pPr marL="342900" indent="-342900">
              <a:buSzPct val="100000"/>
              <a:buChar char="►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alumno es autor del Modelo y simultáneamente Asesor de la Oficina de Gestión de la Calidad de EsSalud — alineación natural entre tesis y rol profesional.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303 — Carlos Pérez Pérez — Mayo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6424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arte — 12 artículos en 3 temas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2023-2025 · bases consultadas: Scopus, IEEE Xplore, PubMed, Springer, Frontiers, MDPI, ACL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1188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61188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 notas clínicas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Modi &amp; Feldman (2024) — Revisión sistemática ADE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Wang, Coiera, Magrabi (2024) — PSE classification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Mahendran et al. (2025) — Scoping review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Campillos-Llanos (2023) — MedLexSp (español)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5943600"/>
            <a:ext cx="3611880" cy="36576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943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artículos · 2023-2025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417320"/>
            <a:ext cx="361188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417320"/>
            <a:ext cx="361188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417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16916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MIMIC-IV y predicción clínica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242316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Johnson et al. (2023) — MIMIC-IV dataset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van Aken et al. (2024) — Outcome prediction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Hu et al. (2024) — Meta-análisis ML/ADE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Liu X. et al. (2024) — Multimodal HF (JMIR)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5943600"/>
            <a:ext cx="3611880" cy="365760"/>
          </a:xfrm>
          <a:prstGeom prst="rect">
            <a:avLst/>
          </a:prstGeom>
          <a:solidFill>
            <a:srgbClr val="1F386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5943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artículos · 2023-2025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12480" y="1417320"/>
            <a:ext cx="361188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0" y="1417320"/>
            <a:ext cx="361188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1417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16916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del riesgo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95360" y="2423160"/>
            <a:ext cx="3246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Liu H.C. et al. (2023) — FMEA overview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Kovačević et al. (2024) — DSS Fuzzy+ANN+SVM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Khan et al. (2025) — AI patient safety SR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Ferrara et al. (2024) — Risk mgmt + AI SR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12480" y="5943600"/>
            <a:ext cx="3611880" cy="365760"/>
          </a:xfrm>
          <a:prstGeom prst="rect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5943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artículos · 2023-2025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303 — Carlos Pérez Pérez — Mayo 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6424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vacío crítico que llena esta tesis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Cuádruple integración inédita en la literatura 2015-2025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42519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783080"/>
            <a:ext cx="822960" cy="822960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sobre notas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clínicas no estructuradas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88720" y="30175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[1][2][3]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1554480"/>
            <a:ext cx="42519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4F8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0" y="1783080"/>
            <a:ext cx="822960" cy="822960"/>
          </a:xfrm>
          <a:prstGeom prst="ellipse">
            <a:avLst/>
          </a:prstGeom>
          <a:solidFill>
            <a:srgbClr val="2E4F8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818120" y="192024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público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reproducible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818120" y="30175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[5][6][7]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42519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4069080"/>
            <a:ext cx="822960" cy="822960"/>
          </a:xfrm>
          <a:prstGeom prst="ellipse">
            <a:avLst/>
          </a:prstGeom>
          <a:solidFill>
            <a:srgbClr val="1F386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4069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188720" y="420624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(texto + tabular)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88720" y="53035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9480" y="3840480"/>
            <a:ext cx="42519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4069080"/>
            <a:ext cx="822960" cy="822960"/>
          </a:xfrm>
          <a:prstGeom prst="ellipse">
            <a:avLst/>
          </a:prstGeom>
          <a:solidFill>
            <a:srgbClr val="02C39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4069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818120" y="420624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excelencia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adoptado normativamente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818120" y="53035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GEMSES + Directiva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32120" y="2926080"/>
            <a:ext cx="1097280" cy="1097280"/>
          </a:xfrm>
          <a:prstGeom prst="ellipse">
            <a:avLst/>
          </a:prstGeom>
          <a:solidFill>
            <a:srgbClr val="1F3864"/>
          </a:solidFill>
          <a:ln w="38100">
            <a:solidFill>
              <a:srgbClr val="02C39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32120" y="29260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∅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53212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3749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FA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estudios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5989320"/>
            <a:ext cx="1133856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estudio publicado entre 2015 y 2025 conecta los cuatro elementos simultáneamente — esta es la contribución original de la tesis.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303 — Carlos Pérez Pérez — Mayo 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06424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y objetivos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causal con métricas verificables · 1 objetivo general · 5 objetivos específicos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338560" cy="1645920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109728" cy="16459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PRINCIPAL (CAUSAL)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de procesamiento (pipeline) integrado de NLP y aprendizaje automático supervisado permite detectar eventos adversos desde notas clínicas no estructuradas de MIMIC-IV y aplicar la Matriz de Priorización del Modelo GEMSES con una concordancia (kappa de Cohen ≥ 0.60) significativamente mayor que la fórmula determinista actual.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91840"/>
            <a:ext cx="41148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Diseñar, implementar y validar un sistema basado en NLP y ML que detecte eventos adversos desde notas clínicas no estructuradas de MIMIC-IV y los priorice automáticamente aplicando la Matriz de Priorización del Modelo GEMSES, con miras a su transferencia metodológica a sistemas sanitarios de habla hispana.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3291840"/>
            <a:ext cx="6858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3291840"/>
            <a:ext cx="6858000" cy="502920"/>
          </a:xfrm>
          <a:prstGeom prst="rect">
            <a:avLst/>
          </a:prstGeom>
          <a:solidFill>
            <a:srgbClr val="2E4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291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3931920"/>
            <a:ext cx="6492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corpus etiquetado de eventos adversos en MIMIC-IV con la taxonomía del Anexo 02 de la Directiva GG-ESSALUD-2021.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y comparar BioBERT, ClinicalBERT y DistilBERT más una línea base.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Operacionalizar las cuatro dimensiones de la Matriz GEMSES con variables proxy.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el cálculo automatizado contra panel experto independiente (kappa, F1, AUC).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la transferencia metodológica al castellano y a IPRESS peruanas.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303 — Carlos Pérez Pérez — Mayo 2026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6424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Operacionalización GEMSES → MIMIC-IV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original de la tesis: cómo se mapean las cuatro dimensiones a variables observables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338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4114800"/>
                <a:gridCol w="411480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 GEMSES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proxy en MIMIC-IV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(c)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 of Stay (LOS) prolongado más allá de la mediana del DRG correspondiente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es el outcome más estudiado en MIMIC-IV; correlaciona con costos y complicaciones [5][6][7]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 (d)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Códigos ICD-9/10 de complicaciones intrahospitalarias (HACs) + NER de eventos en 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ICD codes son labels estándar; NER de eventos validado por [1][2][3]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COSTOS (e)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DRG weight asignado a la admisión + número de procedimientos invasivos adicionales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DRG es el proxy estándar de costos en MIMIC; uso documentado en [7]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SATISFACCIÓN (f)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Readmisión no planificada a 30 días + alta contra recomendación médica (AMA discharge)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Readmisión es proxy aceptado de insatisfacción [6]; AMA discharge correlaciona con experiencia adversa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486400"/>
            <a:ext cx="1133856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5486400"/>
            <a:ext cx="10972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486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operacionalización es un aporte original que no aparece en ninguno de los doce artículos revisados — constituye un resultado publicable como contribución metodológica en revistas indexadas de informática biomédica.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303 — Carlos Pérez Pérez — Mayo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6424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experimental — 6 fases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 — Mayo 2027 · cada fase con producto verificable y métricas declaradas en preregistro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9144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 ·  May - Jun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del corpus etiquetado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305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supervision Snorkel + 300 notas anotadas manualmente.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[1][3]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141732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1417320"/>
            <a:ext cx="9144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5087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 ·  Jun - Ago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NLP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21305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BioBERT, ClinicalBERT, DistilBERT. Métricas F1, κ.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34840" y="2514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[2][6]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46720" y="141732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1417320"/>
            <a:ext cx="9144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5087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 ·  Ago - Oct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multimodal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21305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texto + tabular con fusión por atención.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2514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971800"/>
            <a:ext cx="9144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063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 ·  Oct - Dic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Matriz GEMSES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36850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fórmula G, H, I, J. Niveles Verde/Amarillo/Rojo.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069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Ec. 8-11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51960" y="297180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51960" y="2971800"/>
            <a:ext cx="9144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3063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 ·  Ene - Mar 2027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3484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panel experto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34840" y="36850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notas estratificadas. Comparación contra fórmula determinista.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34840" y="4069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[9][10][11][12]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46720" y="297180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46720" y="2971800"/>
            <a:ext cx="9144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3063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  ·  Mar - May 2027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al castellano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29600" y="36850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MedLexSp + ClinicalBERT-multilingual. Piloto sobre notas EsSalud.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4069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846320"/>
            <a:ext cx="11338560" cy="1508760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937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VERIFICABLES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" y="5257800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►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de Maestría defendida (UNI · Mayo 2027)</a:t>
            </a:r>
            <a:endParaRPr lang="en-US" sz="1200" dirty="0"/>
          </a:p>
          <a:p>
            <a:pPr marL="342900" indent="-342900">
              <a:buSzPct val="100000"/>
              <a:buChar char="►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 Q1 sometido (BMC Medical Informatics, JMIR, Health Informatics Journal)</a:t>
            </a:r>
            <a:endParaRPr lang="en-US" sz="1200" dirty="0"/>
          </a:p>
          <a:p>
            <a:pPr marL="342900" indent="-342900">
              <a:buSzPct val="100000"/>
              <a:buChar char="►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público en GitHub con código y modelos (licencia MIT)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303 — Carlos Pérez Pérez — Mayo 2026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06424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específico de la tesis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dimensiones de contribución verificables y publicables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64592" cy="21031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TEÓRICO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GEMSES operacionalizable mediante IA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conceptual entre los 9 principios rectores del modelo y las salidas computacionales del flujo de procesamiento.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463040"/>
            <a:ext cx="164592" cy="2103120"/>
          </a:xfrm>
          <a:prstGeom prst="rect">
            <a:avLst/>
          </a:prstGeom>
          <a:solidFill>
            <a:srgbClr val="2E4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E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METODOLÓGICO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18745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reproducible y publicable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24231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transformers biomédicos, fusión multimodal y mapeo automatizado a la Matriz GEMSES, con validación por panel experto.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749040"/>
            <a:ext cx="164592" cy="21031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1605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 institucional para EsSalud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7240" y="47091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Alivia el cuello de botella manual en la codificación y priorización de ERSP regulados por la Directiva GG-ESSALUD-2021.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74904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3749040"/>
            <a:ext cx="164592" cy="2103120"/>
          </a:xfrm>
          <a:prstGeom prst="rect">
            <a:avLst/>
          </a:prstGeom>
          <a:solidFill>
            <a:srgbClr val="F9C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41605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daños evitables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0" y="47091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oportuna de eventos adversos y fortalecimiento de la cultura de seguridad — materializa el principio normativo.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989320"/>
            <a:ext cx="113385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9893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Pérez Pérez · MIA 303 · Mayo 2026 · Gracias.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y priorización de eventos adversos con NLP y GEMSES</dc:title>
  <dc:subject>PptxGenJS Presentation</dc:subject>
  <dc:creator>Carlos Pérez Pérez</dc:creator>
  <cp:lastModifiedBy>Carlos Pérez Pérez</cp:lastModifiedBy>
  <cp:revision>1</cp:revision>
  <dcterms:created xsi:type="dcterms:W3CDTF">2026-05-09T15:44:55Z</dcterms:created>
  <dcterms:modified xsi:type="dcterms:W3CDTF">2026-05-09T15:44:55Z</dcterms:modified>
</cp:coreProperties>
</file>